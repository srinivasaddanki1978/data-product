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86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Quick intro. 'Today I want to talk about where data products are headed — and why agents change everything.'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Point at each era card left to right. Key phrase: 'Data products today are still static.' Era 3 says 'Emerging' — own it: 'This is what I believe we're entering now.'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'Most of you know medallion — Bronze, Silver, Gold. Your Gold layer, purpose-built for analytics, is an ARD. In pharma it's a formal term; in other industries you might call it a consumption dataset or data mart. An ARD becomes a Data Product when you add governance: owner, consumers, SLA, contract.' Show the lifecycle bar: 'Bronze = Ingestion, Silver = Curation, Gold = ARD. Plus Insights and Distribution.'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'This is what a real contract looks like. Simplified version — the actual ODCS spec has more fields, but the core is the same.' Point at YAML. Cite ODCS/Bitol/Andrew Jones if asked. End on the question: 'Who enforces this? A human. That's the gap.'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Stats first — let them sink in. Then walk the gap table. Punchline: 'The gap isn't quality — it's intelligence.' Don't rush — the audience needs to feel the problem before you offer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Flash slide. 'Before I show you agentic data products, let me clarify: an agent is NOT a chatbot.' Quick table scan. Chef analogy. 'But a chef with guardrails — the contract is the menu.'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THE 'AHA' SLIDE. Start with honest framing — builds credibility. Read the definition slowly. Walk through Sense→Reason→Adapt→Serve pointing at each card. 'This draws from the standard perception-reasoning-action loop in AI agent design. I've adapted it for data product context.'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Flash slide. 'Here's how an agent would reason through a real scenario — step by step.' Quick walk through Detect → Reason → Act → Verify. This makes the next two slides (lifecycle + before/after) much more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Walk each agent quickly. Speed through Ingestion/Curation/ARD. Slow down for Insights (NL narrative is a wow moment). Then point to Contract Registry: 'THIS ties it all together.' Say: 'This is a reference framework — in practice you'd start with one or two agents.'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Walk left side slowly — they've all lived this. Pause. Then right side. 'No one woke up.' is the punchline — say it slowly, let it land. Bottom note keeps it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Point at Agent Runtime: 'This is the only new piece.' Quick and confident. 'That's it. Two new pieces — agent runtime and contract registry. Everything else is your existing stack.'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Address each audience directly. Read the room — lean into whichever segment is most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Read each takeaway with energy. Close with the quote — say it like you mean it. 'Thank you! Let's connect.' End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114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Data Products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Platforms Are Moving From Static Datasets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Intelligent, Self-Governing Data Products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254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 |  Bilvantis Technologies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Data Club Meetup  | 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Evolution of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eras — and we're entering the third one 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97480" cy="1005840"/>
          </a:xfrm>
          <a:prstGeom prst="rect">
            <a:avLst/>
          </a:prstGeom>
          <a:solidFill>
            <a:srgbClr val="8A95A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188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45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1: Pipelines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8745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jobs, batch loads,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tables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Consumers Get Data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pull 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data?" — tickets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606040"/>
            <a:ext cx="201168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4612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46120" y="1097280"/>
            <a:ext cx="2697480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1887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46120" y="1645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2: Data Products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246120" y="18745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42900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42900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ARDs, curated datasets,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catalogs, SLAs, contracts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42900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Consumers Get Data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42900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via catalogs,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governed access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606040"/>
            <a:ext cx="201168" cy="2011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126480" y="10972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126480" y="1097280"/>
            <a:ext cx="2697480" cy="10058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11887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26480" y="16459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Era 3: Agentic Data Products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126480" y="18745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30936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309360" y="25146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self-adapting,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contract-driven products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309360" y="3291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Consumers Get Data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30936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finds you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proactive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26480" y="1097280"/>
            <a:ext cx="2697480" cy="54864"/>
          </a:xfrm>
          <a:prstGeom prst="rect">
            <a:avLst/>
          </a:prstGeom>
          <a:solidFill>
            <a:srgbClr val="F5B731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Medallion to Data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what you know to where we're headed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you already know)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200400" cy="548640"/>
          </a:xfrm>
          <a:prstGeom prst="rect">
            <a:avLst/>
          </a:prstGeom>
          <a:solidFill>
            <a:srgbClr val="B873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 — as-is from 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099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Ingestion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3200400" cy="548640"/>
          </a:xfrm>
          <a:prstGeom prst="rect">
            <a:avLst/>
          </a:prstGeom>
          <a:solidFill>
            <a:srgbClr val="9CA3A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conformed, deduplicated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3957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3200400" cy="548640"/>
          </a:xfrm>
          <a:prstGeom prst="rect">
            <a:avLst/>
          </a:prstGeom>
          <a:solidFill>
            <a:srgbClr val="D4AF3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88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Business-ready, aggregated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ARD Assembly</a:t>
            </a:r>
            <a:endParaRPr lang="en-US" sz="9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42316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160520" y="868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Gold a Data Product?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60520" y="1280160"/>
            <a:ext cx="320040" cy="3200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131673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7200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someone accountable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160520" y="1664208"/>
            <a:ext cx="320040" cy="320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096" y="170078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7200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— known downstream users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160520" y="2048256"/>
            <a:ext cx="320040" cy="320040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2084832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572000" y="20482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— freshness, quality, availability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160520" y="2432304"/>
            <a:ext cx="320040" cy="32004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7096" y="2468880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72000" y="2432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— schema, thresholds, rules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160520" y="2816352"/>
            <a:ext cx="320040" cy="320040"/>
          </a:xfrm>
          <a:prstGeom prst="rect">
            <a:avLst/>
          </a:prstGeom>
          <a:solidFill>
            <a:srgbClr val="1A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7096" y="285292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572000" y="28163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— registered in catalog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65760" y="3383280"/>
            <a:ext cx="73152" cy="91440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594360" y="3429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ARD (Analytics-Ready Dataset)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94360" y="3703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business-ready dataset built for direct consumption — reports, dashboards, ML models. The most common form of a data product. Also called: consumption datasets, curated Gold tables, data marts.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94360" y="40233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Monthly Revenue by Region  •  Customer 360 Profile  •  Claims Summary  •  Inventory Daily Snapshot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65760" y="44988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Product Lifecycle: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(Bronze)  →  Curation (Silver)  →  ARD Assembly (Gold)  →  Insights Generation  →  Distribution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maps to the medallion layers you already know — plus two consumption stages.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Contracts: The Rulebook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an API spec — but for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260604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3192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Contract Defines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Schema shape &amp; data types (columns, types, constraints)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28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Quality thresholds (max null %, uniqueness rules)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39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Freshness SLA (how often data must refresh)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Ownership (who is accountable)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660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Consumer list (who depends on this data)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meaning (what the fields represent)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914400"/>
            <a:ext cx="4251960" cy="26060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914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data_contract.yaml  (inspired by ODCS / Data Contract Spec)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1188720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1330452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</a:t>
            </a: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"orders_ard"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472184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owner: </a:t>
            </a: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"data-engineering"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613916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755648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field: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1897380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NOT NULL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039112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field: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order_amount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180844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322576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464308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null_threshold: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</a:t>
            </a: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max 2%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606040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freshness: </a:t>
            </a: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"6h"</a:t>
            </a: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SLA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2747772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2889504"/>
            <a:ext cx="38862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</a:t>
            </a:r>
            <a:r>
              <a:rPr lang="en-US" sz="9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finance-dashboard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are an open standard. ODCS (Linux Foundation / Bitol) — Apache 2.0 license. Pioneered by Andrew Jones at GoCardless (2021). Simplified example shown above; actual ODCS spec has additional fields.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05840" y="43891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who enforces the contract? Who adapts when something upstream changes? Today: a human.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Gap: What Consumers Want vs. What We Deliver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651760" cy="1371600"/>
          </a:xfrm>
          <a:prstGeom prst="rect">
            <a:avLst/>
          </a:prstGeom>
          <a:solidFill>
            <a:srgbClr val="00A5B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7955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$12.9M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cost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Gartner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337560" y="731520"/>
            <a:ext cx="2651760" cy="137160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7955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47472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team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firefighting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74720" y="1874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Ataccama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17920" y="731520"/>
            <a:ext cx="2651760" cy="137160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7955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1704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59%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355080" y="1554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orgs don't measure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355080" y="1874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Gartner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57200" y="2331720"/>
            <a:ext cx="3977640" cy="347472"/>
          </a:xfrm>
          <a:prstGeom prst="rect">
            <a:avLst/>
          </a:prstGeom>
          <a:solidFill>
            <a:srgbClr val="8A95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57200" y="2331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 Today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09160" y="2331720"/>
            <a:ext cx="3977640" cy="347472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709160" y="2331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Consumers Actually Want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2715768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2715768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594360" y="27157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dataset in BigQuery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46320" y="271576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 by region, vs last quarter, anomalies flagged"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3063240"/>
            <a:ext cx="3977640" cy="329184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709160" y="3063240"/>
            <a:ext cx="3977640" cy="329184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4360" y="30632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report every Monday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846320" y="30632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"Alert me only when something is off"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410712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709160" y="3410712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94360" y="34107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with 20 filters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846320" y="34107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what matters for my role"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3758184"/>
            <a:ext cx="3977640" cy="329184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4709160" y="3758184"/>
            <a:ext cx="3977640" cy="329184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594360" y="375818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schema — breaks on change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846320" y="375818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keep working when the source changes"</a:t>
            </a:r>
            <a:endParaRPr lang="en-US" sz="1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2971800"/>
            <a:ext cx="228600" cy="22860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data quality — it's data intelligence. Consumers want data products that adapt, personalize, and self-govern.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Agent? (Not a Chatbot)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822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822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/ Event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01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801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logic (if/else)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&amp; adapts (LLM)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76856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2768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2768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76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context across runs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52344"/>
            <a:ext cx="8229600" cy="45720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523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7523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human, stops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752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first, escalates if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27832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227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227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 pipeline logic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external contracts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58768"/>
            <a:ext cx="45720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32588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follows a recipe. An agent is the chef — it reads the recipe, adapts when ingredients change, and remembers what worked. But the contract is the menu they have to follow.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Enter: Agentic Data Products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548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are established (data products, contracts, agentic AI). The convergence — Agentic Data Products — is the emerging vision.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0F1B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Data Product is a data product with embedded intelligence — it can sense changes, reason about impact, adapt its behavior, and serve consumers proactively.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965960" cy="20574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96596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12140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schema drift,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shifts, new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SLA breaches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743200"/>
            <a:ext cx="164592" cy="164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06040" y="1874520"/>
            <a:ext cx="1965960" cy="20574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606040" y="1874520"/>
            <a:ext cx="1965960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46120" y="201168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1214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0604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2697480" y="30175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contracts,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risk, determines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decides action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743200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754880" y="1874520"/>
            <a:ext cx="1965960" cy="20574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754880" y="1874520"/>
            <a:ext cx="1965960" cy="54864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394960" y="2011680"/>
            <a:ext cx="640080" cy="640080"/>
          </a:xfrm>
          <a:prstGeom prst="ellipse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2121408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488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46320" y="30175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itself, proposes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amendments,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reroutes pipelines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743200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903720" y="1874520"/>
            <a:ext cx="1965960" cy="205740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6903720" y="1874520"/>
            <a:ext cx="1965960" cy="54864"/>
          </a:xfrm>
          <a:prstGeom prst="rect">
            <a:avLst/>
          </a:prstGeom>
          <a:solidFill>
            <a:srgbClr val="1A2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7543800" y="2011680"/>
            <a:ext cx="640080" cy="640080"/>
          </a:xfrm>
          <a:prstGeom prst="ellipse">
            <a:avLst/>
          </a:prstGeom>
          <a:solidFill>
            <a:srgbClr val="1A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2121408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0372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995160" y="30175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delivery,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narratives,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anomalies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57200" y="4114800"/>
            <a:ext cx="3886200" cy="411480"/>
          </a:xfrm>
          <a:prstGeom prst="rect">
            <a:avLst/>
          </a:prstGeom>
          <a:solidFill>
            <a:srgbClr val="E8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5943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Built → Published → Consumed as-is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800600" y="4114800"/>
            <a:ext cx="3886200" cy="41148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493776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Agentic: Senses → Reasons → Adapts → Serves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 Agent Actually Thinks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reasoning loop: Detect → Reason → Act → Verify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88720" cy="73152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332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99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28800" y="97840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Agent monitors source schema. Detects column rename: customer_name → cust_full_name. Flags as schema_drift event.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5B5"/>
                </a:solidFill>
              </a:rPr>
              <a:t>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1188720" cy="7315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476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2313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28800" y="189280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compares drift against data contract. Determines: same data type (STRING), high semantic similarity. Risk assessment: LOW — rename, not removal.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77240" y="2606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5B5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7200" y="2788920"/>
            <a:ext cx="1188720" cy="731520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20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3227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828800" y="280720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column mapping. Updates pipeline config. Proposes contract amendment to data-engineering team via Slack. Reruns pipeline.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77240" y="35204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A5B5"/>
                </a:solidFill>
              </a:rPr>
              <a:t>▼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3703320"/>
            <a:ext cx="1188720" cy="731520"/>
          </a:xfrm>
          <a:prstGeom prst="rect">
            <a:avLst/>
          </a:prstGeom>
          <a:solidFill>
            <a:srgbClr val="1A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764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5720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828800" y="372160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 ARD: row counts match, null rate within 2% threshold, freshness SLA met. Logs lineage. Marks amendment as pending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Across the Data Product Lifecycle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framework — each agent reads from a shared Contract Registry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55448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749808"/>
            <a:ext cx="137160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749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749808"/>
            <a:ext cx="169164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7498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749808"/>
            <a:ext cx="155448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749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15568"/>
            <a:ext cx="1554480" cy="64008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" y="11155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874520" y="1115568"/>
            <a:ext cx="137160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947672" y="11155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SLA miss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91840" y="1115568"/>
            <a:ext cx="169164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64992" y="11155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Auto-maps columns,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proposes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change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029200" y="1115568"/>
            <a:ext cx="155448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02352" y="111556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1801368"/>
            <a:ext cx="155448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9280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8368" y="18013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874520" y="1801368"/>
            <a:ext cx="1371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947672" y="18013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violations,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3291840" y="1801368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364992" y="18013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Quarantines bad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auto-docs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029200" y="1801368"/>
            <a:ext cx="1554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102352" y="180136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74320" y="2487168"/>
            <a:ext cx="1554480" cy="6400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578608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8368" y="24871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1874520" y="2487168"/>
            <a:ext cx="137160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1947672" y="24871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schema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3291840" y="2487168"/>
            <a:ext cx="169164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3364992" y="24871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analytics-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datasets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5029200" y="2487168"/>
            <a:ext cx="155448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5102352" y="248716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data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274320" y="3172968"/>
            <a:ext cx="1554480" cy="640080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64408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58368" y="31729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1874520" y="3172968"/>
            <a:ext cx="1371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1947672" y="3172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trends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3291840" y="3172968"/>
            <a:ext cx="169164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3364992" y="31729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stats, NL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 ↓ 8%"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5029200" y="3172968"/>
            <a:ext cx="155448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5102352" y="317296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274320" y="3858768"/>
            <a:ext cx="1554480" cy="640080"/>
          </a:xfrm>
          <a:prstGeom prst="rect">
            <a:avLst/>
          </a:prstGeom>
          <a:solidFill>
            <a:srgbClr val="1A2A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950208"/>
            <a:ext cx="256032" cy="25603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58368" y="38587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1874520" y="3858768"/>
            <a:ext cx="137160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6"/>
          <p:cNvSpPr/>
          <p:nvPr/>
        </p:nvSpPr>
        <p:spPr>
          <a:xfrm>
            <a:off x="1947672" y="38587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persona,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3291840" y="3858768"/>
            <a:ext cx="169164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3364992" y="3858768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summary vs.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detail,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Slack/email/dash</a:t>
            </a:r>
            <a:endParaRPr lang="en-US" sz="850" dirty="0"/>
          </a:p>
        </p:txBody>
      </p:sp>
      <p:sp>
        <p:nvSpPr>
          <p:cNvPr id="56" name="Shape 49"/>
          <p:cNvSpPr/>
          <p:nvPr/>
        </p:nvSpPr>
        <p:spPr>
          <a:xfrm>
            <a:off x="5029200" y="3858768"/>
            <a:ext cx="1554480" cy="64008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5102352" y="385876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data,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person,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time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6766560" y="749808"/>
            <a:ext cx="2057400" cy="4279392"/>
          </a:xfrm>
          <a:prstGeom prst="rect">
            <a:avLst/>
          </a:prstGeom>
          <a:solidFill>
            <a:srgbClr val="0F1B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914400"/>
            <a:ext cx="411480" cy="411480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766560" y="1371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9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6858000" y="1920240"/>
            <a:ext cx="1874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shared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truth.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• Quality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• Ownership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YAML-based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Git-versioned</a:t>
            </a:r>
            <a:endParaRPr lang="en-US" sz="90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1362456"/>
            <a:ext cx="118872" cy="118872"/>
          </a:xfrm>
          <a:prstGeom prst="rect">
            <a:avLst/>
          </a:prstGeom>
        </p:spPr>
      </p:pic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048256"/>
            <a:ext cx="118872" cy="118872"/>
          </a:xfrm>
          <a:prstGeom prst="rect">
            <a:avLst/>
          </a:prstGeom>
        </p:spPr>
      </p:pic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2734056"/>
            <a:ext cx="118872" cy="118872"/>
          </a:xfrm>
          <a:prstGeom prst="rect">
            <a:avLst/>
          </a:prstGeom>
        </p:spPr>
      </p:pic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3419856"/>
            <a:ext cx="118872" cy="118872"/>
          </a:xfrm>
          <a:prstGeom prst="rect">
            <a:avLst/>
          </a:prstGeom>
        </p:spPr>
      </p:pic>
      <p:pic>
        <p:nvPicPr>
          <p:cNvPr id="6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105656"/>
            <a:ext cx="118872" cy="118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 It Concrete: Same Event, Two Worlds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914400" y="594360"/>
            <a:ext cx="7315200" cy="34747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Change:  </a:t>
            </a:r>
            <a:r>
              <a:rPr lang="en-US" sz="1050" strike="sngStrike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cust_full_name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28803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1480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5214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DATA PRODUCT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— Pipeline fails on column mismatch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" y="186537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02:15 — PagerDuty alert fires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9768" y="2176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02:45 — Engineer wakes, starts debugging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9768" y="24871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03:30 — Root cause: column renamed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9768" y="279806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 — Manual fix, pipeline reruns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9768" y="31089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— Finance: dashboards stale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9768" y="341985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Post-mortem meeting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097280"/>
            <a:ext cx="4114800" cy="28803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52144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DATA PRODUCT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64608" y="155448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— Ingestion Agent detects column drift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64608" y="186537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02:01 — Reads contract, finds schema mismatch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864608" y="2176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02:02 — Reasons: rename (not removal), low risk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864608" y="248716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02:03 — Maps customer_name → cust_full_name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864608" y="279806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02:04 — Validates: types match, nulls within 2%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864608" y="310896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02:05 — Pipeline resumes, ARD rebuilt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64608" y="341985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— Dashboards current. No one woke up.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0040" y="4023360"/>
            <a:ext cx="411480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20040" y="4023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~7 hours  |  Consumer impact: HIGH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754880" y="4023360"/>
            <a:ext cx="411480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754880" y="4023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~5 minutes  |  Consumer impact: ZERO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becomes possible when data products have embedded intelligence. The building blocks exist today.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View: GCP + Databricks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new infrastructure — agents sit as a layer on your existing platform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solidFill>
            <a:srgbClr val="8A95A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 |  Databases  |  Files  |  Streams  |  CDC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5B5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7680960" cy="5943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Composer (GCP)  |  Databricks Workflows  |  Event Triggers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2377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5B5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00A5B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560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Runtime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 |  Tool Use  |  Memory  |  Guardrails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73152" cy="594360"/>
          </a:xfrm>
          <a:prstGeom prst="rect">
            <a:avLst/>
          </a:prstGeom>
          <a:solidFill>
            <a:srgbClr val="F5B7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0" y="2560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NEW LAYER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97680" y="3154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5B5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+ Contracts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337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 |  Lakehouse  |  Unity Catalog  |  Contract Registry (YAML/ODCS)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A5B5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114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114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 |  Dashboards  |  Auto Reports  |  Slack / Email  |  APIs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 for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3886200" cy="1051560"/>
          </a:xfrm>
          <a:prstGeom prst="rect">
            <a:avLst/>
          </a:prstGeom>
          <a:solidFill>
            <a:srgbClr val="E8EC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3886200" cy="320040"/>
          </a:xfrm>
          <a:prstGeom prst="rect">
            <a:avLst/>
          </a:prstGeom>
          <a:solidFill>
            <a:srgbClr val="8A95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 → Monitor → Fix → Repeat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team as cost center"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0584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00600" y="685800"/>
            <a:ext cx="3886200" cy="1051560"/>
          </a:xfrm>
          <a:prstGeom prst="rect">
            <a:avLst/>
          </a:prstGeom>
          <a:solidFill>
            <a:srgbClr val="F4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685800"/>
            <a:ext cx="3886200" cy="3200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685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Tomorrow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1051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contracts → Deploy agents → Supervise outcomes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team as product org"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00A5B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6712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039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&amp; Early Career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43000" y="23042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data engineer writes contracts and orchestrates agents — not just SQL. Learn: data modeling, ODCS, agent frameworks (LangGraph, CrewAI).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0E749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358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Practitioners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3000" y="3172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most painful ARD. Add one contract + one curation agent. Prove the value. That's your first agentic data product.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0448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776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" y="40416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 shift from 'data team as cost center' to 'data team as product org.' Scale via intelligence, not headcount.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0080" y="44348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2026, 40% of enterprise apps will embed AI agents (Gartner)  |  Agentic AI market: ~$10B, growing at 40%+ CAGR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7315200" cy="59436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73152" cy="59436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91440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 are evolving — from static datasets to intelligent, self-governing products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7315200" cy="59436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73152" cy="59436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+ Agents = the formula — contracts define rules, agents enforce and adapt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7315200" cy="59436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73152" cy="59436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74520" y="24688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are real today — ODCS, agentic AI frameworks, GCP/Databricks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46120"/>
            <a:ext cx="7315200" cy="594360"/>
          </a:xfrm>
          <a:prstGeom prst="rect">
            <a:avLst/>
          </a:prstGeom>
          <a:solidFill>
            <a:srgbClr val="1A2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246120"/>
            <a:ext cx="73152" cy="59436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5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74520" y="3246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think big — one product, one contract, one agent. That's your first step.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4160520"/>
            <a:ext cx="2743200" cy="0"/>
          </a:xfrm>
          <a:prstGeom prst="line">
            <a:avLst/>
          </a:prstGeom>
          <a:noFill/>
          <a:ln w="254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product era was about making data discoverable.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data product era is about making data intelligent."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5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 |  Bilvantis Technologies  |  Let's Connect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A5B5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2285</Words>
  <Application>Microsoft Office PowerPoint</Application>
  <PresentationFormat>On-screen Show (16:9)</PresentationFormat>
  <Paragraphs>314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Products: The Next Evolution</dc:title>
  <dc:subject>PptxGenJS Presentation</dc:subject>
  <dc:creator>Pavan | Bilvantis Technologies</dc:creator>
  <cp:lastModifiedBy>Pavan Kumar Reddy Burramukkala (Contractor)</cp:lastModifiedBy>
  <cp:revision>3</cp:revision>
  <dcterms:created xsi:type="dcterms:W3CDTF">2026-03-22T04:26:52Z</dcterms:created>
  <dcterms:modified xsi:type="dcterms:W3CDTF">2026-04-13T05:31:06Z</dcterms:modified>
</cp:coreProperties>
</file>